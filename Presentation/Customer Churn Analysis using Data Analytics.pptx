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89" r:id="rId7"/>
    <p:sldId id="290" r:id="rId8"/>
    <p:sldId id="291" r:id="rId9"/>
    <p:sldId id="300" r:id="rId10"/>
    <p:sldId id="292" r:id="rId11"/>
    <p:sldId id="295" r:id="rId12"/>
    <p:sldId id="298" r:id="rId13"/>
    <p:sldId id="299" r:id="rId14"/>
    <p:sldId id="29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5" r:id="rId7"/>
    <p:sldLayoutId id="2147483677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32" y="232912"/>
            <a:ext cx="8240889" cy="3932687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Customer Churn Analysis using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IN" sz="4400" dirty="0">
                <a:latin typeface="Bookman Old Style" panose="02050604050505020204" pitchFamily="18" charset="0"/>
              </a:rPr>
              <a:t>INTRODUCTION</a:t>
            </a:r>
            <a:endParaRPr lang="en-US" sz="44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Customer churn refers to the percentage of customers who stop using a company’s service over a given period. Reducing churn is crucial because acquiring new customers is more expensive than retaining existing ones.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this project, we analyze customer data to identify patterns and key factors that influence churn. The goal is to help businesses improve customer retention strategies using data-driven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IN" sz="4400" dirty="0">
                <a:latin typeface="Bookman Old Style" panose="02050604050505020204" pitchFamily="18" charset="0"/>
              </a:rPr>
              <a:t>OBJECTIVE</a:t>
            </a:r>
            <a:endParaRPr lang="en-US" sz="44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>
            <a:noAutofit/>
          </a:bodyPr>
          <a:lstStyle/>
          <a:p>
            <a:pPr marL="59436" indent="0">
              <a:buNone/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The main objectives of this project are:</a:t>
            </a:r>
          </a:p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To analyze customer data and identify churn patterns </a:t>
            </a:r>
          </a:p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To understand the impact of services, pricing, and customer behavior on churn </a:t>
            </a:r>
          </a:p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To perform exploratory data analysis (EDA) for meaningful insights </a:t>
            </a:r>
          </a:p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To build an interactive Power BI dashboard for visualization </a:t>
            </a:r>
          </a:p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To suggest strategies to reduce churn</a:t>
            </a: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7"/>
            <a:ext cx="9601200" cy="1432630"/>
          </a:xfrm>
        </p:spPr>
        <p:txBody>
          <a:bodyPr/>
          <a:lstStyle/>
          <a:p>
            <a:r>
              <a:rPr lang="en-IN" sz="4400" dirty="0">
                <a:latin typeface="Bookman Old Style" panose="02050604050505020204" pitchFamily="18" charset="0"/>
              </a:rPr>
              <a:t>DATASET DESCRIPTION</a:t>
            </a:r>
            <a:endParaRPr lang="en-US" sz="44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514" y="1851379"/>
            <a:ext cx="8050107" cy="4086577"/>
          </a:xfrm>
        </p:spPr>
        <p:txBody>
          <a:bodyPr>
            <a:noAutofit/>
          </a:bodyPr>
          <a:lstStyle/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dataset used in this project contains customer information from a telecom company.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It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Demographics: Gender, Senior Citizen, Partner, Dependents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Account Information: Tenure, Contract Type, Payment Method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Services: Internet, Streaming, Security, Tech Support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Financial Data: Monthly Charges, Total Charges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Target Variable: Churn (Churned / Retained)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dataset was initially raw and required preprocessing before analysis.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r>
              <a:rPr lang="en-IN" sz="4800" dirty="0">
                <a:latin typeface="Bookman Old Style" panose="02050604050505020204" pitchFamily="18" charset="0"/>
              </a:rPr>
              <a:t>DATA CLEANING</a:t>
            </a:r>
            <a:endParaRPr lang="en-US" sz="48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286933" y="2024063"/>
            <a:ext cx="9660467" cy="4512204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The dataset was cleaned and prepared using Python.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Key steps included: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Handling missing values in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TotalCharges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Converting data types (e.g., numeric conversion)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Removing duplicate records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Standardizing categorical values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Creating meaningful labels for better interpretation 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“Yes/No” converted to meaningful labels like “Protected”, “No Support”</a:t>
            </a:r>
          </a:p>
          <a:p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86ED-314A-A76E-4FD1-B27A51DE0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582811"/>
          </a:xfrm>
        </p:spPr>
        <p:txBody>
          <a:bodyPr/>
          <a:lstStyle/>
          <a:p>
            <a:r>
              <a:rPr lang="en-IN" sz="4800" dirty="0">
                <a:latin typeface="Bookman Old Style" panose="02050604050505020204" pitchFamily="18" charset="0"/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44620-526C-BE51-8E44-6296EED246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4232" y="1945325"/>
            <a:ext cx="10022443" cy="3865539"/>
          </a:xfrm>
        </p:spPr>
        <p:txBody>
          <a:bodyPr>
            <a:noAutofit/>
          </a:bodyPr>
          <a:lstStyle/>
          <a:p>
            <a:r>
              <a:rPr lang="en-US" sz="2150" dirty="0">
                <a:latin typeface="Cambria" panose="02040503050406030204" pitchFamily="18" charset="0"/>
                <a:ea typeface="Cambria" panose="02040503050406030204" pitchFamily="18" charset="0"/>
              </a:rPr>
              <a:t>To improve analysis and simplify the dataset, key features were created:</a:t>
            </a:r>
          </a:p>
          <a:p>
            <a:r>
              <a:rPr lang="en-US" sz="2150" b="1" dirty="0">
                <a:latin typeface="Cambria" panose="02040503050406030204" pitchFamily="18" charset="0"/>
                <a:ea typeface="Cambria" panose="02040503050406030204" pitchFamily="18" charset="0"/>
              </a:rPr>
              <a:t>Tenure Group:</a:t>
            </a:r>
            <a:r>
              <a:rPr lang="en-US" sz="2150" dirty="0">
                <a:latin typeface="Cambria" panose="02040503050406030204" pitchFamily="18" charset="0"/>
                <a:ea typeface="Cambria" panose="02040503050406030204" pitchFamily="18" charset="0"/>
              </a:rPr>
              <a:t> Grouped customers by duration to analyze churn across lifecycle stages </a:t>
            </a:r>
          </a:p>
          <a:p>
            <a:r>
              <a:rPr lang="en-US" sz="2150" b="1" dirty="0">
                <a:latin typeface="Cambria" panose="02040503050406030204" pitchFamily="18" charset="0"/>
                <a:ea typeface="Cambria" panose="02040503050406030204" pitchFamily="18" charset="0"/>
              </a:rPr>
              <a:t>Streaming Services:</a:t>
            </a:r>
            <a:r>
              <a:rPr lang="en-US" sz="2150" dirty="0">
                <a:latin typeface="Cambria" panose="02040503050406030204" pitchFamily="18" charset="0"/>
                <a:ea typeface="Cambria" panose="02040503050406030204" pitchFamily="18" charset="0"/>
              </a:rPr>
              <a:t> Combined TV and Movies to measure overall entertainment usage </a:t>
            </a:r>
          </a:p>
          <a:p>
            <a:r>
              <a:rPr lang="en-US" sz="2150" b="1" dirty="0">
                <a:latin typeface="Cambria" panose="02040503050406030204" pitchFamily="18" charset="0"/>
                <a:ea typeface="Cambria" panose="02040503050406030204" pitchFamily="18" charset="0"/>
              </a:rPr>
              <a:t>Payment Type:</a:t>
            </a:r>
            <a:r>
              <a:rPr lang="en-US" sz="2150" dirty="0">
                <a:latin typeface="Cambria" panose="02040503050406030204" pitchFamily="18" charset="0"/>
                <a:ea typeface="Cambria" panose="02040503050406030204" pitchFamily="18" charset="0"/>
              </a:rPr>
              <a:t> Grouped into Auto and Manual to study payment behavior impact </a:t>
            </a:r>
          </a:p>
          <a:p>
            <a:r>
              <a:rPr lang="en-US" sz="2150" b="1" dirty="0">
                <a:latin typeface="Cambria" panose="02040503050406030204" pitchFamily="18" charset="0"/>
                <a:ea typeface="Cambria" panose="02040503050406030204" pitchFamily="18" charset="0"/>
              </a:rPr>
              <a:t>Engagement Level:</a:t>
            </a:r>
            <a:r>
              <a:rPr lang="en-US" sz="2150" dirty="0">
                <a:latin typeface="Cambria" panose="02040503050406030204" pitchFamily="18" charset="0"/>
                <a:ea typeface="Cambria" panose="02040503050406030204" pitchFamily="18" charset="0"/>
              </a:rPr>
              <a:t> Calculated based on number of services used to measure activity </a:t>
            </a:r>
          </a:p>
          <a:p>
            <a:r>
              <a:rPr lang="en-US" sz="2150" b="1" dirty="0">
                <a:latin typeface="Cambria" panose="02040503050406030204" pitchFamily="18" charset="0"/>
                <a:ea typeface="Cambria" panose="02040503050406030204" pitchFamily="18" charset="0"/>
              </a:rPr>
              <a:t>Avg Monthly Spend:</a:t>
            </a:r>
            <a:r>
              <a:rPr lang="en-US" sz="2150" dirty="0">
                <a:latin typeface="Cambria" panose="02040503050406030204" pitchFamily="18" charset="0"/>
                <a:ea typeface="Cambria" panose="02040503050406030204" pitchFamily="18" charset="0"/>
              </a:rPr>
              <a:t> Derived to understand customer spending patterns </a:t>
            </a:r>
          </a:p>
          <a:p>
            <a:r>
              <a:rPr lang="en-US" sz="2150" b="1" dirty="0">
                <a:latin typeface="Cambria" panose="02040503050406030204" pitchFamily="18" charset="0"/>
                <a:ea typeface="Cambria" panose="02040503050406030204" pitchFamily="18" charset="0"/>
              </a:rPr>
              <a:t>Internet Type:</a:t>
            </a:r>
            <a:r>
              <a:rPr lang="en-US" sz="2150" dirty="0">
                <a:latin typeface="Cambria" panose="02040503050406030204" pitchFamily="18" charset="0"/>
                <a:ea typeface="Cambria" panose="02040503050406030204" pitchFamily="18" charset="0"/>
              </a:rPr>
              <a:t> Categorized into High, Medium, and No Internet for easy comparison </a:t>
            </a:r>
          </a:p>
          <a:p>
            <a:endParaRPr lang="en-IN" sz="2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976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/>
          <a:lstStyle/>
          <a:p>
            <a:r>
              <a:rPr lang="en-IN" sz="4400" dirty="0">
                <a:latin typeface="Bookman Old Style" panose="02050604050505020204" pitchFamily="18" charset="0"/>
              </a:rPr>
              <a:t>EXPLORATORY DATA ANALYSIS</a:t>
            </a:r>
            <a:endParaRPr lang="en-US" sz="44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6813" y="2652713"/>
            <a:ext cx="9444743" cy="3436937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Exploratory Data Analysis (EDA) was performed using Python libraries such as Pandas, Seaborn, and Matplotlib.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Different types of visualizations were used: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Bar charts for categorical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Pie charts for distribution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Histograms for numerical distribution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Box plots for comparison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EDA helped identify patterns, trends, and relationships in the data.</a:t>
            </a:r>
          </a:p>
          <a:p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IN" sz="4400" dirty="0">
                <a:latin typeface="Bookman Old Style" panose="02050604050505020204" pitchFamily="18" charset="0"/>
              </a:rPr>
              <a:t>Business Insights – Customer Behaviour</a:t>
            </a:r>
            <a:endParaRPr lang="en-US" sz="4400" dirty="0"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9A705-E123-1C6C-EC93-CEE377B741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67492" y="2087561"/>
            <a:ext cx="9952063" cy="3890543"/>
          </a:xfrm>
        </p:spPr>
        <p:txBody>
          <a:bodyPr/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analysis highlights several key behavioral patterns among customers: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Customers with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month-to-month contracts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show significantly higher churn compared to long-term contract users. This indicates a lack of commitment and higher flexibility to leave.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Customers with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short tenure (0–1 year)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are more likely to churn. This suggests that the initial onboarding experience plays a crucial role in customer retention.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Customers using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manual payment methods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tend to churn more frequently than those using automatic payments. This may be due to inconvenience or lack of engagement.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Overall, customer behavior indicates that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commitment level and ease of service usage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strongly influence retention.</a:t>
            </a:r>
          </a:p>
        </p:txBody>
      </p:sp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292" y="395558"/>
            <a:ext cx="9779183" cy="1570038"/>
          </a:xfrm>
        </p:spPr>
        <p:txBody>
          <a:bodyPr/>
          <a:lstStyle/>
          <a:p>
            <a:r>
              <a:rPr lang="en-US" sz="4400" dirty="0">
                <a:latin typeface="Bookman Old Style" panose="02050604050505020204" pitchFamily="18" charset="0"/>
              </a:rPr>
              <a:t>Business Insights – Services &amp; Engagement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18AE09-F6D2-9E5C-F5C5-39B15A76F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604" y="2310610"/>
            <a:ext cx="9779182" cy="3366813"/>
          </a:xfrm>
        </p:spPr>
        <p:txBody>
          <a:bodyPr/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Service usage and engagement levels play a major role in churn: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Customers with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low engagement (fewer subscribed services)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are more likely to churn.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Customers who do not use services like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online security, backup, or tech support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tend to leave more frequently.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Customers with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no streaming services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show lower interaction with the platform, leading to higher churn probability.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indicates that increasing customer engagement through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value-added services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can significantly improve retention.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AA421B-EE45-3CA7-869F-91D5C59B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071385"/>
          </a:xfrm>
        </p:spPr>
        <p:txBody>
          <a:bodyPr/>
          <a:lstStyle/>
          <a:p>
            <a:r>
              <a:rPr lang="en-IN" sz="4400" dirty="0">
                <a:latin typeface="Bookman Old Style" panose="02050604050505020204" pitchFamily="18" charset="0"/>
              </a:rPr>
              <a:t>Business Impact &amp; 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E6A72F-B069-9209-4AB4-CC6FB0EF5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1309512"/>
            <a:ext cx="9779182" cy="45720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analysis reveals that churn is driven by a combination of behavioral, financial, and service-related factors.</a:t>
            </a:r>
          </a:p>
          <a:p>
            <a:pPr marL="59436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Key conclusions: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High churn among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new and unengaged customers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highlights the need for better onboarding and engagement strategies.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Customers paying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higher monthly charges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are more likely to churn, indicating price sensitivity.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Encouraging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long-term contracts and automatic payments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can improve customer retention.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Business Recommendation: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Provide incentives for long-term contracts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Promote bundled services to increase engagement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Offer discounts or personalized plans for high-risk customers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By implementing these strategies, companies can reduce churn and improve overall customer satisfaction.</a:t>
            </a:r>
          </a:p>
          <a:p>
            <a:pPr marL="59436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940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176451"/>
          </a:xfrm>
        </p:spPr>
        <p:txBody>
          <a:bodyPr/>
          <a:lstStyle/>
          <a:p>
            <a:r>
              <a:rPr lang="en-US" sz="8000" dirty="0">
                <a:latin typeface="Bookman Old Style" panose="02050604050505020204" pitchFamily="18" charset="0"/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2533" y="3635022"/>
            <a:ext cx="4475237" cy="141111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</a:t>
            </a:r>
            <a:r>
              <a:rPr lang="en-US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Vedhantham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Sathvika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31</TotalTime>
  <Words>744</Words>
  <Application>Microsoft Office PowerPoint</Application>
  <PresentationFormat>Widescreen</PresentationFormat>
  <Paragraphs>81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Bookman Old Style</vt:lpstr>
      <vt:lpstr>Calibri</vt:lpstr>
      <vt:lpstr>Cambria</vt:lpstr>
      <vt:lpstr>Tenorite</vt:lpstr>
      <vt:lpstr>Times New Roman</vt:lpstr>
      <vt:lpstr>Custom</vt:lpstr>
      <vt:lpstr>Customer Churn Analysis using Data Analytics</vt:lpstr>
      <vt:lpstr>INTRODUCTION</vt:lpstr>
      <vt:lpstr>OBJECTIVE</vt:lpstr>
      <vt:lpstr>DATASET DESCRIPTION</vt:lpstr>
      <vt:lpstr>DATA CLEANING</vt:lpstr>
      <vt:lpstr>FEATURE ENGINEERING</vt:lpstr>
      <vt:lpstr>EXPLORATORY DATA ANALYSIS</vt:lpstr>
      <vt:lpstr>Business Insights – Customer Behaviour</vt:lpstr>
      <vt:lpstr>Business Insights – Services &amp; Engagement</vt:lpstr>
      <vt:lpstr>Business Impact &amp;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VEDANTHAM SATHVIKA</dc:creator>
  <cp:lastModifiedBy>VEDANTHAM SATHVIKA</cp:lastModifiedBy>
  <cp:revision>3</cp:revision>
  <dcterms:created xsi:type="dcterms:W3CDTF">2026-04-17T08:34:08Z</dcterms:created>
  <dcterms:modified xsi:type="dcterms:W3CDTF">2026-04-17T09:06:51Z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